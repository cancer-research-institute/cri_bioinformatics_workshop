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12191675"/>
  <p:notesSz cx="6858000" cy="12191675"/>
  <p:embeddedFontLst>
    <p:embeddedFont>
      <p:font typeface="Helvetica Neue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hRIyhDMHXkFKfXgCLy3HWQ0H0v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HelveticaNeue-bold.fntdata"/><Relationship Id="rId14" Type="http://schemas.openxmlformats.org/officeDocument/2006/relationships/slide" Target="slides/slide10.xml"/><Relationship Id="rId36" Type="http://schemas.openxmlformats.org/officeDocument/2006/relationships/font" Target="fonts/HelveticaNeue-regular.fntdata"/><Relationship Id="rId17" Type="http://schemas.openxmlformats.org/officeDocument/2006/relationships/slide" Target="slides/slide13.xml"/><Relationship Id="rId39" Type="http://schemas.openxmlformats.org/officeDocument/2006/relationships/font" Target="fonts/HelveticaNeue-boldItalic.fntdata"/><Relationship Id="rId16" Type="http://schemas.openxmlformats.org/officeDocument/2006/relationships/slide" Target="slides/slide12.xml"/><Relationship Id="rId38" Type="http://schemas.openxmlformats.org/officeDocument/2006/relationships/font" Target="fonts/HelveticaNeue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97a823ae2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97a823ae2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97a823ae2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6" name="Google Shape;73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40080" y="1627632"/>
            <a:ext cx="566928" cy="64008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" y="1783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CRI Bioinformatics Bootcamp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03504" y="2194560"/>
            <a:ext cx="6949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4300"/>
              <a:buFont typeface="Calibri"/>
              <a:buNone/>
            </a:pPr>
            <a:r>
              <a:rPr b="1" i="0" lang="en-US" sz="43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Single-cell &amp; spatial analysis</a:t>
            </a:r>
            <a:br>
              <a:rPr b="1" i="0" lang="en-US" sz="43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3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b="1" lang="en-US" sz="4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b="1" lang="en-US" sz="4300">
                <a:solidFill>
                  <a:srgbClr val="2F6BE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4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b="1" lang="en-US" sz="4300">
                <a:solidFill>
                  <a:srgbClr val="2F6BE0"/>
                </a:solidFill>
                <a:latin typeface="Calibri"/>
                <a:ea typeface="Calibri"/>
                <a:cs typeface="Calibri"/>
                <a:sym typeface="Calibri"/>
              </a:rPr>
              <a:t> scverse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391668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scanpy   ·   muon   ·   scirpy   ·   scvi-tools   ·   squidpy   ·   spatialdata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818120" y="2331720"/>
            <a:ext cx="3703320" cy="1936242"/>
          </a:xfrm>
          <a:prstGeom prst="roundRect">
            <a:avLst>
              <a:gd fmla="val 2597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110728" y="2478024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129016" y="2825496"/>
            <a:ext cx="3136392" cy="1296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926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scanpy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926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squidpy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sq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926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scvi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adata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.datasets.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pbmc3k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4950" y="3190125"/>
            <a:ext cx="566925" cy="566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01 · THE ECOSYSTEM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What is scverse?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1481328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A community of Python packages for single-cell and spatial omics — all built on the same data structures, so they interoperate by design.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2"/>
          <p:cNvCxnSpPr/>
          <p:nvPr/>
        </p:nvCxnSpPr>
        <p:spPr>
          <a:xfrm>
            <a:off x="6172200" y="2587752"/>
            <a:ext cx="0" cy="1572768"/>
          </a:xfrm>
          <a:prstGeom prst="straightConnector1">
            <a:avLst/>
          </a:prstGeom>
          <a:noFill/>
          <a:ln cap="flat" cmpd="sng" w="12700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2"/>
          <p:cNvCxnSpPr/>
          <p:nvPr/>
        </p:nvCxnSpPr>
        <p:spPr>
          <a:xfrm flipH="1" rot="10800000">
            <a:off x="6172200" y="3374136"/>
            <a:ext cx="2890412" cy="786384"/>
          </a:xfrm>
          <a:prstGeom prst="straightConnector1">
            <a:avLst/>
          </a:prstGeom>
          <a:noFill/>
          <a:ln cap="flat" cmpd="sng" w="12700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2"/>
          <p:cNvCxnSpPr/>
          <p:nvPr/>
        </p:nvCxnSpPr>
        <p:spPr>
          <a:xfrm>
            <a:off x="6172200" y="4160520"/>
            <a:ext cx="2890412" cy="786384"/>
          </a:xfrm>
          <a:prstGeom prst="straightConnector1">
            <a:avLst/>
          </a:prstGeom>
          <a:noFill/>
          <a:ln cap="flat" cmpd="sng" w="12700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2"/>
          <p:cNvCxnSpPr/>
          <p:nvPr/>
        </p:nvCxnSpPr>
        <p:spPr>
          <a:xfrm rot="10800000">
            <a:off x="6172200" y="4160520"/>
            <a:ext cx="0" cy="1572768"/>
          </a:xfrm>
          <a:prstGeom prst="straightConnector1">
            <a:avLst/>
          </a:prstGeom>
          <a:noFill/>
          <a:ln cap="flat" cmpd="sng" w="12700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2"/>
          <p:cNvCxnSpPr/>
          <p:nvPr/>
        </p:nvCxnSpPr>
        <p:spPr>
          <a:xfrm flipH="1" rot="10800000">
            <a:off x="3281788" y="4160520"/>
            <a:ext cx="2890412" cy="786384"/>
          </a:xfrm>
          <a:prstGeom prst="straightConnector1">
            <a:avLst/>
          </a:prstGeom>
          <a:noFill/>
          <a:ln cap="flat" cmpd="sng" w="12700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2"/>
          <p:cNvCxnSpPr/>
          <p:nvPr/>
        </p:nvCxnSpPr>
        <p:spPr>
          <a:xfrm>
            <a:off x="3281788" y="3374136"/>
            <a:ext cx="2890412" cy="786384"/>
          </a:xfrm>
          <a:prstGeom prst="straightConnector1">
            <a:avLst/>
          </a:prstGeom>
          <a:noFill/>
          <a:ln cap="flat" cmpd="sng" w="12700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2"/>
          <p:cNvSpPr/>
          <p:nvPr/>
        </p:nvSpPr>
        <p:spPr>
          <a:xfrm>
            <a:off x="5052060" y="2203704"/>
            <a:ext cx="2240280" cy="768096"/>
          </a:xfrm>
          <a:prstGeom prst="roundRect">
            <a:avLst>
              <a:gd fmla="val 5952" name="adj"/>
            </a:avLst>
          </a:prstGeom>
          <a:solidFill>
            <a:srgbClr val="FAFAFB"/>
          </a:solidFill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052060" y="231343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scanpy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052060" y="259689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preprocessing &amp; clustering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942472" y="2990088"/>
            <a:ext cx="2240280" cy="768096"/>
          </a:xfrm>
          <a:prstGeom prst="roundRect">
            <a:avLst>
              <a:gd fmla="val 5952" name="adj"/>
            </a:avLst>
          </a:prstGeom>
          <a:solidFill>
            <a:srgbClr val="FAFAFB"/>
          </a:solidFill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942472" y="309981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scvi-tools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942472" y="338328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deep generative models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942472" y="4562856"/>
            <a:ext cx="2240280" cy="768096"/>
          </a:xfrm>
          <a:prstGeom prst="roundRect">
            <a:avLst>
              <a:gd fmla="val 5952" name="adj"/>
            </a:avLst>
          </a:prstGeom>
          <a:solidFill>
            <a:srgbClr val="FAFAFB"/>
          </a:solidFill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942472" y="467258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spatialdata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2472" y="495604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images &amp; large datasets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052060" y="5349240"/>
            <a:ext cx="2240280" cy="768096"/>
          </a:xfrm>
          <a:prstGeom prst="roundRect">
            <a:avLst>
              <a:gd fmla="val 5952" name="adj"/>
            </a:avLst>
          </a:prstGeom>
          <a:solidFill>
            <a:srgbClr val="FAFAFB"/>
          </a:solidFill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052060" y="545896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squidpy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052060" y="574243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spatial neighborhoods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161648" y="4562856"/>
            <a:ext cx="2240280" cy="768096"/>
          </a:xfrm>
          <a:prstGeom prst="roundRect">
            <a:avLst>
              <a:gd fmla="val 5952" name="adj"/>
            </a:avLst>
          </a:prstGeom>
          <a:solidFill>
            <a:srgbClr val="FAFAFB"/>
          </a:solidFill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2161648" y="467258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scirpy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161648" y="495604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TCR / BCR repertoire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2161648" y="2990088"/>
            <a:ext cx="2240280" cy="768096"/>
          </a:xfrm>
          <a:prstGeom prst="roundRect">
            <a:avLst>
              <a:gd fmla="val 5952" name="adj"/>
            </a:avLst>
          </a:prstGeom>
          <a:solidFill>
            <a:srgbClr val="FAFAFB"/>
          </a:solidFill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2161648" y="309981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decoupler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161648" y="338328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pathway &amp; TF activity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800600" y="3611880"/>
            <a:ext cx="2743200" cy="1097280"/>
          </a:xfrm>
          <a:prstGeom prst="roundRect">
            <a:avLst>
              <a:gd fmla="val 6667" name="adj"/>
            </a:avLst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800600" y="377647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AnnData  ·  MuData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800600" y="4160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E4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8E4FA"/>
                </a:solidFill>
                <a:latin typeface="Calibri"/>
                <a:ea typeface="Calibri"/>
                <a:cs typeface="Calibri"/>
                <a:sym typeface="Calibri"/>
              </a:rPr>
              <a:t>shared data structures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02 · DATA STRUCTURES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AnnData — one object for the analysis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Annotated data matrix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41248" y="2532888"/>
            <a:ext cx="48737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The expression matrix plus every layer of metadata, held together in one object.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0080" y="3529584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41248" y="3447288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Cells × genes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41248" y="3776472"/>
            <a:ext cx="48737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Rows are cells, columns are genes — the transpose of how the Seurat object is laid out.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40080" y="4773168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841248" y="4690872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Start to finish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41248" y="5020056"/>
            <a:ext cx="48737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Counts, embeddings, clusters and QC all stay attached to it as the analysis grows.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217920" y="2011680"/>
            <a:ext cx="5349240" cy="2388870"/>
          </a:xfrm>
          <a:prstGeom prst="roundRect">
            <a:avLst>
              <a:gd fmla="val 2105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510528" y="215798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  —  print(adata) after a full run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528816" y="2505456"/>
            <a:ext cx="4782312" cy="1748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AnnData object   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2700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cells × 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1838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genes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obs:    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'leiden'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'n_genes'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'pct_mt'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var:    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'highly_variable'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'means'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obsm:   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'X_pca'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'X_umap'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obsp:   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'distances'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'connectivities'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layers: 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'counts'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uns:    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'pca'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'neighbors'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02 · DATA STRUCTURES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Inside an AnnData object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40080" y="1481328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Eight slots, each holding a different layer of the dataset — once you know them, every scverse package becomes predictable.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40080" y="2084832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.X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194560" y="208483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the expression matrix  —  cells × genes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4"/>
          <p:cNvCxnSpPr/>
          <p:nvPr/>
        </p:nvCxnSpPr>
        <p:spPr>
          <a:xfrm>
            <a:off x="640077" y="2519175"/>
            <a:ext cx="644070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4"/>
          <p:cNvSpPr/>
          <p:nvPr/>
        </p:nvSpPr>
        <p:spPr>
          <a:xfrm>
            <a:off x="640080" y="2574036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.obs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194560" y="2574036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per-cell table  —  clusters, sample, QC metrics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640077" y="3008379"/>
            <a:ext cx="644070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4"/>
          <p:cNvSpPr/>
          <p:nvPr/>
        </p:nvSpPr>
        <p:spPr>
          <a:xfrm>
            <a:off x="640080" y="306324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.var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194560" y="30632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per-gene table  —  gene IDs, highly-variable flag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4"/>
          <p:cNvCxnSpPr/>
          <p:nvPr/>
        </p:nvCxnSpPr>
        <p:spPr>
          <a:xfrm>
            <a:off x="640077" y="3497582"/>
            <a:ext cx="644070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4"/>
          <p:cNvSpPr/>
          <p:nvPr/>
        </p:nvSpPr>
        <p:spPr>
          <a:xfrm>
            <a:off x="640080" y="3552444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.obsm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194560" y="3552444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per-cell matrices  —  X_pca, X_umap, spatial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4"/>
          <p:cNvCxnSpPr/>
          <p:nvPr/>
        </p:nvCxnSpPr>
        <p:spPr>
          <a:xfrm>
            <a:off x="640077" y="3986786"/>
            <a:ext cx="644070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4"/>
          <p:cNvSpPr/>
          <p:nvPr/>
        </p:nvSpPr>
        <p:spPr>
          <a:xfrm>
            <a:off x="640080" y="4041648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.varm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194560" y="404164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per-gene matrices  —  PC loadings (PCs)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4"/>
          <p:cNvCxnSpPr/>
          <p:nvPr/>
        </p:nvCxnSpPr>
        <p:spPr>
          <a:xfrm>
            <a:off x="640077" y="4475989"/>
            <a:ext cx="644070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4"/>
          <p:cNvSpPr/>
          <p:nvPr/>
        </p:nvSpPr>
        <p:spPr>
          <a:xfrm>
            <a:off x="640080" y="4530852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.layers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194560" y="453085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alternative matrices, same shape as .X  —  counts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4"/>
          <p:cNvCxnSpPr/>
          <p:nvPr/>
        </p:nvCxnSpPr>
        <p:spPr>
          <a:xfrm>
            <a:off x="640077" y="4965193"/>
            <a:ext cx="644070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4"/>
          <p:cNvSpPr/>
          <p:nvPr/>
        </p:nvSpPr>
        <p:spPr>
          <a:xfrm>
            <a:off x="640080" y="5020056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.obsp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2194560" y="5020056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cell × cell graphs  —  the neighbor graph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4"/>
          <p:cNvCxnSpPr/>
          <p:nvPr/>
        </p:nvCxnSpPr>
        <p:spPr>
          <a:xfrm>
            <a:off x="640077" y="5454396"/>
            <a:ext cx="644070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4"/>
          <p:cNvSpPr/>
          <p:nvPr/>
        </p:nvSpPr>
        <p:spPr>
          <a:xfrm>
            <a:off x="640080" y="55092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.uns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194560" y="55092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unstructured  —  parameters, palettes, run history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640077" y="5943600"/>
            <a:ext cx="644070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4" title="Screenshot 2026-05-19 at 12.14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2126" y="1975450"/>
            <a:ext cx="4445548" cy="4221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02 · DATA STRUCTURES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lang="en-US" sz="2900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Anndata     Seurat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40080" y="1481328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Almost everything has a direct equivalent — the move is mostly a change of vocabulary.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40080" y="199339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Seurat  (R)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074920" y="1993392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scverse  /  AnnData  (Python)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5"/>
          <p:cNvCxnSpPr/>
          <p:nvPr/>
        </p:nvCxnSpPr>
        <p:spPr>
          <a:xfrm>
            <a:off x="640080" y="2304288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5"/>
          <p:cNvSpPr/>
          <p:nvPr/>
        </p:nvSpPr>
        <p:spPr>
          <a:xfrm>
            <a:off x="640080" y="2395728"/>
            <a:ext cx="4297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genes × cells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709160" y="2395728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074920" y="239572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50"/>
              <a:buFont typeface="Consolas"/>
              <a:buNone/>
            </a:pPr>
            <a:r>
              <a:rPr b="1" lang="en-US" sz="1250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2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cells × genes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9098280" y="239572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matrix is transposed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5"/>
          <p:cNvCxnSpPr/>
          <p:nvPr/>
        </p:nvCxnSpPr>
        <p:spPr>
          <a:xfrm>
            <a:off x="640080" y="2830068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5"/>
          <p:cNvSpPr/>
          <p:nvPr/>
        </p:nvSpPr>
        <p:spPr>
          <a:xfrm>
            <a:off x="640080" y="2884932"/>
            <a:ext cx="4297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assay  @counts / @data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709160" y="2884932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074920" y="2884932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  .X   +   .layers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9098280" y="2884932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raw and processed matrices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5"/>
          <p:cNvCxnSpPr/>
          <p:nvPr/>
        </p:nvCxnSpPr>
        <p:spPr>
          <a:xfrm>
            <a:off x="640080" y="331927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5"/>
          <p:cNvSpPr/>
          <p:nvPr/>
        </p:nvSpPr>
        <p:spPr>
          <a:xfrm>
            <a:off x="640080" y="3374136"/>
            <a:ext cx="4297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meta.data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709160" y="3374136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074920" y="3374136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  .obs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9098280" y="3374136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per-cell metadata 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5"/>
          <p:cNvCxnSpPr/>
          <p:nvPr/>
        </p:nvCxnSpPr>
        <p:spPr>
          <a:xfrm>
            <a:off x="640080" y="3808476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5"/>
          <p:cNvSpPr/>
          <p:nvPr/>
        </p:nvSpPr>
        <p:spPr>
          <a:xfrm>
            <a:off x="640080" y="3863340"/>
            <a:ext cx="4297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assay meta.features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709160" y="3863340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074920" y="3863340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  .var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9098280" y="386334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per-gene metadata 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5"/>
          <p:cNvCxnSpPr/>
          <p:nvPr/>
        </p:nvCxnSpPr>
        <p:spPr>
          <a:xfrm>
            <a:off x="640080" y="4297680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5"/>
          <p:cNvSpPr/>
          <p:nvPr/>
        </p:nvSpPr>
        <p:spPr>
          <a:xfrm>
            <a:off x="640080" y="4352544"/>
            <a:ext cx="4297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@reductions$pca / umap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709160" y="4352544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074920" y="4352544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  .obsm['X_pca' / 'X_umap']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9098280" y="4352544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5"/>
          <p:cNvCxnSpPr/>
          <p:nvPr/>
        </p:nvCxnSpPr>
        <p:spPr>
          <a:xfrm>
            <a:off x="640080" y="4786884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5"/>
          <p:cNvSpPr/>
          <p:nvPr/>
        </p:nvSpPr>
        <p:spPr>
          <a:xfrm>
            <a:off x="640080" y="4841748"/>
            <a:ext cx="4297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pca@feature.loadings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709160" y="4841748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074920" y="484174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  .varm['PCs']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9098280" y="484174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gene loadings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5"/>
          <p:cNvCxnSpPr/>
          <p:nvPr/>
        </p:nvCxnSpPr>
        <p:spPr>
          <a:xfrm>
            <a:off x="640080" y="5276088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5"/>
          <p:cNvSpPr/>
          <p:nvPr/>
        </p:nvSpPr>
        <p:spPr>
          <a:xfrm>
            <a:off x="640080" y="5330952"/>
            <a:ext cx="4297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@graphs  (nn / snn)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709160" y="5330952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074920" y="5330952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  .obsp['connectivities']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9098280" y="5330952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neighbor graph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5"/>
          <p:cNvCxnSpPr/>
          <p:nvPr/>
        </p:nvCxnSpPr>
        <p:spPr>
          <a:xfrm>
            <a:off x="640080" y="5765292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5"/>
          <p:cNvSpPr/>
          <p:nvPr/>
        </p:nvSpPr>
        <p:spPr>
          <a:xfrm>
            <a:off x="640080" y="5820156"/>
            <a:ext cx="4297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multi-assay object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709160" y="5820156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074920" y="5820156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  MuData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9098280" y="5820156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one AnnData per modality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5"/>
          <p:cNvCxnSpPr/>
          <p:nvPr/>
        </p:nvCxnSpPr>
        <p:spPr>
          <a:xfrm>
            <a:off x="640080" y="6254496"/>
            <a:ext cx="10881360" cy="0"/>
          </a:xfrm>
          <a:prstGeom prst="straightConnector1">
            <a:avLst/>
          </a:prstGeom>
          <a:noFill/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5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2110140" y="1137200"/>
            <a:ext cx="270600" cy="1473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97a823ae2_0_13"/>
          <p:cNvSpPr/>
          <p:nvPr/>
        </p:nvSpPr>
        <p:spPr>
          <a:xfrm>
            <a:off x="640080" y="530352"/>
            <a:ext cx="1060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03 · PREPROCESSING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e97a823ae2_0_13"/>
          <p:cNvSpPr/>
          <p:nvPr/>
        </p:nvSpPr>
        <p:spPr>
          <a:xfrm>
            <a:off x="640080" y="804672"/>
            <a:ext cx="10607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lang="en-US" sz="2900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Scanpy: 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e97a823ae2_0_13"/>
          <p:cNvSpPr/>
          <p:nvPr/>
        </p:nvSpPr>
        <p:spPr>
          <a:xfrm>
            <a:off x="640080" y="2286000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97a823ae2_0_13"/>
          <p:cNvSpPr/>
          <p:nvPr/>
        </p:nvSpPr>
        <p:spPr>
          <a:xfrm>
            <a:off x="841248" y="2203704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Calculate QC metrics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e97a823ae2_0_13"/>
          <p:cNvSpPr/>
          <p:nvPr/>
        </p:nvSpPr>
        <p:spPr>
          <a:xfrm>
            <a:off x="841248" y="23804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Counts per cell, genes per cell, and the fraction of mitochondrial reads.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e97a823ae2_0_13"/>
          <p:cNvSpPr/>
          <p:nvPr/>
        </p:nvSpPr>
        <p:spPr>
          <a:xfrm>
            <a:off x="640080" y="32247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e97a823ae2_0_13"/>
          <p:cNvSpPr/>
          <p:nvPr/>
        </p:nvSpPr>
        <p:spPr>
          <a:xfrm>
            <a:off x="841248" y="31424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Filter cells and genes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e97a823ae2_0_13"/>
          <p:cNvSpPr/>
          <p:nvPr/>
        </p:nvSpPr>
        <p:spPr>
          <a:xfrm>
            <a:off x="841248" y="33192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Drop low-quality cells and genes detected in only a handful of cells.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e97a823ae2_0_13"/>
          <p:cNvSpPr/>
          <p:nvPr/>
        </p:nvSpPr>
        <p:spPr>
          <a:xfrm>
            <a:off x="640080" y="41635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e97a823ae2_0_13"/>
          <p:cNvSpPr/>
          <p:nvPr/>
        </p:nvSpPr>
        <p:spPr>
          <a:xfrm>
            <a:off x="841248" y="40812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Same idea as Seurat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e97a823ae2_0_13"/>
          <p:cNvSpPr/>
          <p:nvPr/>
        </p:nvSpPr>
        <p:spPr>
          <a:xfrm>
            <a:off x="841248" y="42580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PercentageFeatureSet plus subset() — one explicit function at a 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e97a823ae2_0_13"/>
          <p:cNvSpPr/>
          <p:nvPr/>
        </p:nvSpPr>
        <p:spPr>
          <a:xfrm>
            <a:off x="6217920" y="2011680"/>
            <a:ext cx="5349300" cy="2841600"/>
          </a:xfrm>
          <a:prstGeom prst="roundRect">
            <a:avLst>
              <a:gd fmla="val 1770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e97a823ae2_0_13"/>
          <p:cNvSpPr/>
          <p:nvPr/>
        </p:nvSpPr>
        <p:spPr>
          <a:xfrm>
            <a:off x="6510528" y="2157984"/>
            <a:ext cx="480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e97a823ae2_0_13"/>
          <p:cNvSpPr/>
          <p:nvPr/>
        </p:nvSpPr>
        <p:spPr>
          <a:xfrm>
            <a:off x="6528816" y="2505456"/>
            <a:ext cx="4782300" cy="22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mt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adata.var_names.str.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startswith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"MT-"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adata.var[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"mt"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mt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calculate_qc_metrics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adata, qc_vars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"mt"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], inplace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=True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filter_cells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min_genes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filter_genes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min_cells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adata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adata[adata.obs.pct_counts_mt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en-US" sz="11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e97a823ae2_0_13"/>
          <p:cNvSpPr/>
          <p:nvPr/>
        </p:nvSpPr>
        <p:spPr>
          <a:xfrm>
            <a:off x="11430000" y="6419088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728375" y="5135825"/>
            <a:ext cx="4538700" cy="90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03 · PREPROCESSING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Quality control and filtering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40080" y="2286000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841248" y="2203704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Calculate QC metrics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841248" y="23804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Counts per cell, genes per cell, and the fraction of mitochondrial reads.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640080" y="32247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841248" y="31424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Filter cells and genes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841248" y="33192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Drop low-quality cells and genes detected in only a handful of cells.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40080" y="41635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841248" y="40812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Same idea as Seurat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841248" y="42580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PercentageFeatureSet plus subset() — one explicit function at a 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217920" y="2011680"/>
            <a:ext cx="5349240" cy="2841498"/>
          </a:xfrm>
          <a:prstGeom prst="roundRect">
            <a:avLst>
              <a:gd fmla="val 1770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6510528" y="215798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528816" y="2505456"/>
            <a:ext cx="4782312" cy="2201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mt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adata.var_names.str.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startswith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"MT-"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adata.var[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"mt"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mt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calculate_qc_metrics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adata, qc_vars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"mt"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], inplace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=True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filter_cells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min_genes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filter_genes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min_cells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adata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adata[adata.obs.pct_counts_mt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en-US" sz="11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0500" y="5316400"/>
            <a:ext cx="1221774" cy="53884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6"/>
          <p:cNvSpPr txBox="1"/>
          <p:nvPr/>
        </p:nvSpPr>
        <p:spPr>
          <a:xfrm>
            <a:off x="943400" y="5223125"/>
            <a:ext cx="2872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  <a:t>scanpy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 is a scalable toolkit for analyzing single-cell gene expression data built jointly with </a:t>
            </a:r>
            <a: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  <a:t>anndata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03 · PREPROCESSING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Normalize, transform, select features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Normalize &amp; log-transform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41248" y="23042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1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normalize_total</a:t>
            </a:r>
            <a:r>
              <a:rPr b="1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b="1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log1p</a:t>
            </a: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200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equivalent to</a:t>
            </a: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NormalizeData</a:t>
            </a: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40080" y="31485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841248" y="30662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Select variable genes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41248" y="31668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highly_variable_genes</a:t>
            </a: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 — equivalent to </a:t>
            </a:r>
            <a:r>
              <a:rPr b="1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FindVariableFeatures</a:t>
            </a: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640080" y="40111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841248" y="39288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Scale, but keep the counts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841248" y="40294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Save raw counts to a layer before scale() overwrites .X.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6217920" y="2011680"/>
            <a:ext cx="5349240" cy="3067812"/>
          </a:xfrm>
          <a:prstGeom prst="roundRect">
            <a:avLst>
              <a:gd fmla="val 1639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6510528" y="215798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528816" y="2505456"/>
            <a:ext cx="4782312" cy="2427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adata.layers[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"counts"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adata.X.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copy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normalize_total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target_sum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1e4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log1p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highly_variable_genes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adata, n_top_genes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2000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adata.raw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adata</a:t>
            </a:r>
            <a:endParaRPr sz="1100">
              <a:solidFill>
                <a:srgbClr val="F4F4E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scale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max_value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07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04 · DIMENSION REDUCTION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PCA — and what the loadings tell you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Run PCA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841248" y="231017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Compress thousands of genes down to roughly fifty components.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40080" y="3041665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841248" y="2959369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Pick the number of PCs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841248" y="3065841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The variance-ratio elbow plot — the equivalent of Seurat's ElbowPlot.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640080" y="38587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841248" y="37764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Read the loadings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841248" y="3967421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varm['PCs'] holds each gene's weight; the top genes name what an axis means.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217920" y="2011680"/>
            <a:ext cx="5349240" cy="2388870"/>
          </a:xfrm>
          <a:prstGeom prst="roundRect">
            <a:avLst>
              <a:gd fmla="val 2105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6510528" y="215798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528816" y="2505456"/>
            <a:ext cx="4782312" cy="1748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pca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n_comps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pca_variance_ratio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n_pcs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# loadings: each gene's weight per PC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adata.varm[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"PCs"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            </a:t>
            </a:r>
            <a:r>
              <a:rPr b="0" i="0" lang="en-US" sz="110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# genes × PCs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pca_loadings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components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7975" y="4638225"/>
            <a:ext cx="2412775" cy="1912575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1" name="Google Shape;25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8600" y="4638225"/>
            <a:ext cx="4799030" cy="1912575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52" name="Google Shape;252;p8"/>
          <p:cNvCxnSpPr>
            <a:stCxn id="250" idx="0"/>
          </p:cNvCxnSpPr>
          <p:nvPr/>
        </p:nvCxnSpPr>
        <p:spPr>
          <a:xfrm rot="-5400000">
            <a:off x="5189362" y="3635625"/>
            <a:ext cx="1527600" cy="477600"/>
          </a:xfrm>
          <a:prstGeom prst="bentConnector3">
            <a:avLst>
              <a:gd fmla="val 100021" name="adj1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8"/>
          <p:cNvCxnSpPr>
            <a:stCxn id="251" idx="0"/>
          </p:cNvCxnSpPr>
          <p:nvPr/>
        </p:nvCxnSpPr>
        <p:spPr>
          <a:xfrm rot="-5400000">
            <a:off x="9178715" y="4394025"/>
            <a:ext cx="483600" cy="4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04 · DIMENSION REDUCTION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From PCA to a 2D U</a:t>
            </a:r>
            <a:r>
              <a:rPr b="1" lang="en-US" sz="2900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Build the neighbor graph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841248" y="23042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k-nearest-neighbors in PCA space — this graph is what clustering runs 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40080" y="31485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841248" y="30662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UMAP Embedding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841248" y="31668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A map for visualization; treat distances on it as qualitative, not exact.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40080" y="40111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841248" y="39288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Seurat equivalents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841248" y="40294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FindNeighbors, then RunUMAP — the same two-step sequence.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217925" y="1706875"/>
            <a:ext cx="5349300" cy="1492200"/>
          </a:xfrm>
          <a:prstGeom prst="roundRect">
            <a:avLst>
              <a:gd fmla="val 2597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6510528" y="1853184"/>
            <a:ext cx="480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528821" y="2137508"/>
            <a:ext cx="47823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neighbors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n_neighbors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.tl.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umap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lang="en-US" sz="1100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.pl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umap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color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1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CD3E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"CST3", </a:t>
            </a:r>
            <a:r>
              <a:rPr lang="en-US" sz="11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“CD79A”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09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0600" y="3514275"/>
            <a:ext cx="6238472" cy="189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05 ·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Batch correction with Harmony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Why correct batches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841248" y="2342089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Raw PCA space mixes real biology with technical, per-sample variation.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40080" y="31485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841248" y="30662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Harmony adjusts the embedding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841248" y="3204673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It nudges cells within PCA space — </a:t>
            </a:r>
            <a:r>
              <a:rPr b="1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the count matrix is left untouched.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640080" y="40111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841248" y="39288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Use the corrected space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841248" y="413577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Point neighbors at </a:t>
            </a:r>
            <a:r>
              <a:rPr b="1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X_pca_harmony</a:t>
            </a: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 and run the rest of the pipeline as usual.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6217920" y="1173480"/>
            <a:ext cx="5349300" cy="2162700"/>
          </a:xfrm>
          <a:prstGeom prst="roundRect">
            <a:avLst>
              <a:gd fmla="val 2326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6510528" y="1319784"/>
            <a:ext cx="480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6528816" y="1667256"/>
            <a:ext cx="4782300" cy="15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926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scanpy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.external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sce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harmony_integrate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key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"batch"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# -&gt; adata.obsm["X_pca_harmony"]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neighbors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use_rep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"X_pca_harmony"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rgbClr val="F4F4E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lang="en-US" sz="1100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.tl.</a:t>
            </a:r>
            <a:r>
              <a:rPr lang="en-US" sz="11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umap</a:t>
            </a:r>
            <a:r>
              <a:rPr lang="en-US" sz="1100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 </a:t>
            </a:r>
            <a:r>
              <a:rPr lang="en-US" sz="1100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#rerun on batch corrected neighbors graph</a:t>
            </a:r>
            <a:endParaRPr sz="1100">
              <a:solidFill>
                <a:srgbClr val="F4F4E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956975" y="5135825"/>
            <a:ext cx="3994800" cy="90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 txBox="1"/>
          <p:nvPr/>
        </p:nvSpPr>
        <p:spPr>
          <a:xfrm>
            <a:off x="1172000" y="5223125"/>
            <a:ext cx="3088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Helvetica Neue"/>
                <a:ea typeface="Helvetica Neue"/>
                <a:cs typeface="Helvetica Neue"/>
                <a:sym typeface="Helvetica Neue"/>
              </a:rPr>
              <a:t>scVI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 is a generative model that batch corrects and provides model-corrected counts for downstream analyses.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849" y="5210932"/>
            <a:ext cx="749800" cy="74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5750" y="3665328"/>
            <a:ext cx="5349299" cy="2107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06 · CLUSTERING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Clustering with Leiden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Clusters from the graph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841248" y="2342687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Leiden partitions the neighbor graph into communities of similar cells.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640080" y="31485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841248" y="30662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Resolution sets granularity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841248" y="3205271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Higher resolution yields more, smaller clusters</a:t>
            </a:r>
            <a:r>
              <a:rPr lang="en-US" sz="1200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40080" y="40111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841248" y="39288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Versus Seurat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841248" y="4144055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FindClusters does the same job; Leiden is the improved successor to Louvain.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6210250" y="1149048"/>
            <a:ext cx="5349300" cy="1197900"/>
          </a:xfrm>
          <a:prstGeom prst="roundRect">
            <a:avLst>
              <a:gd fmla="val 2597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6502853" y="1295349"/>
            <a:ext cx="480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6521150" y="1642823"/>
            <a:ext cx="47823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.tl.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leiden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resolution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1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umap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color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"leiden"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0032" y="2481598"/>
            <a:ext cx="4814700" cy="3901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07 · ANNOTATION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Marker genes with rank_genes_groups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Rank genes per cluster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841248" y="23042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A Wilcoxon test of every gene, each cluster against all other cells.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640080" y="31485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841248" y="30662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Pull results into a table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841248" y="31668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rank_genes_groups_df returns a DataFrame you can sort and filter.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640080" y="40111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841248" y="39288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Like FindAllMarkers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841248" y="40294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Use the top-ranked genes of each cluster to assign cell-type identity.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6217920" y="1935480"/>
            <a:ext cx="5349300" cy="2615100"/>
          </a:xfrm>
          <a:prstGeom prst="roundRect">
            <a:avLst>
              <a:gd fmla="val 1923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6510528" y="2081784"/>
            <a:ext cx="480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6528816" y="2429256"/>
            <a:ext cx="4782300" cy="19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.tl.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rank_genes_groups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adata, groupby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"leiden"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method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"wilcoxon"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df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.get.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rank_genes_groups_df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adata, group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"0"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rank_genes_groups_dotplot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0074" y="4676975"/>
            <a:ext cx="6638399" cy="18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07 · ANNOTATION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Scoring gene signatures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Score a gene set per cell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841248" y="23042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Mean expression of the set, minus a matched control set, for every cell.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640080" y="30723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841248" y="29900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Seurat's AddModuleScore</a:t>
            </a:r>
            <a:endParaRPr b="1" sz="1500">
              <a:solidFill>
                <a:srgbClr val="1515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841248" y="30906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Score a signature, then colour the UMAP by the resulting score.</a:t>
            </a:r>
            <a:endParaRPr sz="1200">
              <a:solidFill>
                <a:srgbClr val="5555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640080" y="38587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841248" y="37764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Seurat's AddModuleScore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841248" y="38770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Score a signature, then colour the UMAP by the resulting score.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6217920" y="1783080"/>
            <a:ext cx="5349300" cy="2388900"/>
          </a:xfrm>
          <a:prstGeom prst="roundRect">
            <a:avLst>
              <a:gd fmla="val 2105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6510528" y="1929384"/>
            <a:ext cx="480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6528816" y="2276856"/>
            <a:ext cx="4782300" cy="17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tcell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"CD3D"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"CD3E"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"CD8A"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"IL7R"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.tl.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score_genes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adata, tcell, score_name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"tcell"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.tl.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score_genes_cell_cycle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adata, s_genes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s_genes, g2m_genes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g2m_genes)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9995" y="4304500"/>
            <a:ext cx="5279955" cy="238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4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08 · MULTIMODAL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Multiple modalities with MuData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One AnnData per modality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841248" y="23042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RNA, ATAC and surface protein are each kept as their own AnnData.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640080" y="31485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841248" y="30662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MuData ties them together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841248" y="31668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Shared cells, reached as mdata['rna'] and mdata['atac'].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640080" y="40111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841248" y="39288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muon is scanpy for multimodal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841248" y="40294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Per-modality steps, plus joint embeddings across the modalities.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6217920" y="2240280"/>
            <a:ext cx="5349240" cy="2388870"/>
          </a:xfrm>
          <a:prstGeom prst="roundRect">
            <a:avLst>
              <a:gd fmla="val 2105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6510528" y="238658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6528816" y="2734056"/>
            <a:ext cx="4782312" cy="1748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926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muon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mu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mdata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mu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MuData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"rna"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: adata_rna,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  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"atac"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: adata_atac})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mdata[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"rna"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               </a:t>
            </a:r>
            <a:r>
              <a:rPr b="0" i="0" lang="en-US" sz="110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# just an AnnData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mu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intersect_obs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(mdata)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09 · IMMUNE REPERTOIRE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Loading TCR / BCR data with scirpy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Repertoire on AnnData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841248" y="23042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scirpy pairs immune-receptor sequences with the transcriptome.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640080" y="30723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841248" y="29900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Read 10x VDJ output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841248" y="30906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Load filtered_contig_annotations.csv straight into an AnnData.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640080" y="38587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841248" y="37764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Merge and QC the chains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841248" y="38770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Receptor info joins .obs; chain_qc flags each cell's chain configuration.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6217920" y="2240280"/>
            <a:ext cx="5349240" cy="2388870"/>
          </a:xfrm>
          <a:prstGeom prst="roundRect">
            <a:avLst>
              <a:gd fmla="val 2105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6510528" y="238658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6528816" y="2734056"/>
            <a:ext cx="4782312" cy="1748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926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scirpy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tcr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ir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.io.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read_10x_vdj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"filtered_contig_annotations.csv"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ir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merge_with_ir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tcr)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ir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.tl.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chain_qc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6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09 · IMMUNE REPERTOIRE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Clonotypes and repertoire analysis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Define clonotypes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841248" y="229660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Group cells that share receptor sequences into clones (clone_id).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640080" y="30723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841248" y="29900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Measure clonal expansion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841248" y="308299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Quantify how large each clone is — the footprint of an immune response.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640080" y="38587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841248" y="37764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Clonotype networks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841248" y="386937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Graph clones by sequence similarity, then lay them out and plot.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6217920" y="2011680"/>
            <a:ext cx="5349240" cy="2615184"/>
          </a:xfrm>
          <a:prstGeom prst="roundRect">
            <a:avLst>
              <a:gd fmla="val 1923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6510528" y="215798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6528816" y="2505456"/>
            <a:ext cx="4782312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ir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ir_dist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ir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.tl.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define_clonotypes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# -&gt; adata.obs["clone_id"]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ir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.tl.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clonal_expansion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ir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.tl.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clonotype_network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ir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clonotype_network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color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"clone_id"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7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10 · FUNCTIONAL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Pathway &amp; TF activity with decoupler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7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Functional analysis, one API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841248" y="23804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Enrichment and activity scoring with many methods behind a single interface.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640080" y="31485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7"/>
          <p:cNvSpPr/>
          <p:nvPr/>
        </p:nvSpPr>
        <p:spPr>
          <a:xfrm>
            <a:off x="841248" y="30662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Curated prior networks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841248" y="3121391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TF-target sets (CollecTRI), pathway responses, MSigDB gene sets.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640080" y="39349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"/>
          <p:cNvSpPr/>
          <p:nvPr/>
        </p:nvSpPr>
        <p:spPr>
          <a:xfrm>
            <a:off x="841248" y="38526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Per-cell activities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841248" y="3907775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Infer transcription-factor or pathway activity for each cell or pseudobulk.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6217920" y="2240280"/>
            <a:ext cx="5349240" cy="2615184"/>
          </a:xfrm>
          <a:prstGeom prst="roundRect">
            <a:avLst>
              <a:gd fmla="val 1923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7"/>
          <p:cNvSpPr/>
          <p:nvPr/>
        </p:nvSpPr>
        <p:spPr>
          <a:xfrm>
            <a:off x="6510528" y="238658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6528816" y="2734056"/>
            <a:ext cx="4782312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926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decoupler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dc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net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dc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get_collectri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dc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run_ulm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(mat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adata, net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net)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acts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dc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get_acts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adata, obsm_key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"ulm_estimate"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8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11 · PROBABILISTIC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scvi-tools — deep generative models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A model, not just a transform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841248" y="23042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scVI learns a probabilistic latent space directly from raw counts.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640080" y="30723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8"/>
          <p:cNvSpPr/>
          <p:nvPr/>
        </p:nvSpPr>
        <p:spPr>
          <a:xfrm>
            <a:off x="841248" y="29900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Batch-aware by design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841248" y="30906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Library size and batch are part of the model, not regressed out afterward.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640080" y="38587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841248" y="37764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Latent space replaces PCA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841248" y="38770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Feed X_scVI into neighbors, UMAP and clustering — already integrated.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6217920" y="1993392"/>
            <a:ext cx="5349240" cy="3067812"/>
          </a:xfrm>
          <a:prstGeom prst="roundRect">
            <a:avLst>
              <a:gd fmla="val 1639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6510528" y="2139696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6528816" y="2487168"/>
            <a:ext cx="4782312" cy="2427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926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scvi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scvi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.model.SCVI.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setup_anndata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adata, layer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"counts"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batch_key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"batch"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model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scvi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.model.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SCVI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model.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train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latent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model.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get_latent_representation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adata.obsm[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"X_scVI"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latent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11 · PROBABILISTIC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One framework, many models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640080" y="1481328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scvi-tools hosts a family of models for different data types — and they all share the same four-step API.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640080" y="2240280"/>
            <a:ext cx="4892040" cy="2388870"/>
          </a:xfrm>
          <a:prstGeom prst="roundRect">
            <a:avLst>
              <a:gd fmla="val 2105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9"/>
          <p:cNvSpPr/>
          <p:nvPr/>
        </p:nvSpPr>
        <p:spPr>
          <a:xfrm>
            <a:off x="932688" y="2386584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950976" y="2734056"/>
            <a:ext cx="4325112" cy="1748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# every model, one pattern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Model.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setup_anndata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...)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model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model.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train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model.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get_latent_representation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5897880" y="2240280"/>
            <a:ext cx="2606040" cy="1060704"/>
          </a:xfrm>
          <a:prstGeom prst="roundRect">
            <a:avLst>
              <a:gd fmla="val 4310" name="adj"/>
            </a:avLst>
          </a:prstGeom>
          <a:solidFill>
            <a:srgbClr val="FAFAFB"/>
          </a:solidFill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6080760" y="237744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scVI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6080760" y="2660904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scRNA-seq latent space + integration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8686800" y="2240280"/>
            <a:ext cx="2606040" cy="1060704"/>
          </a:xfrm>
          <a:prstGeom prst="roundRect">
            <a:avLst>
              <a:gd fmla="val 4310" name="adj"/>
            </a:avLst>
          </a:prstGeom>
          <a:solidFill>
            <a:srgbClr val="FAFAFB"/>
          </a:solidFill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9"/>
          <p:cNvSpPr/>
          <p:nvPr/>
        </p:nvSpPr>
        <p:spPr>
          <a:xfrm>
            <a:off x="8869680" y="237744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scANVI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8869680" y="2660904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semi-supervised cell-type labels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5897880" y="3465576"/>
            <a:ext cx="2606040" cy="1060704"/>
          </a:xfrm>
          <a:prstGeom prst="roundRect">
            <a:avLst>
              <a:gd fmla="val 4310" name="adj"/>
            </a:avLst>
          </a:prstGeom>
          <a:solidFill>
            <a:srgbClr val="FAFAFB"/>
          </a:solidFill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9"/>
          <p:cNvSpPr/>
          <p:nvPr/>
        </p:nvSpPr>
        <p:spPr>
          <a:xfrm>
            <a:off x="6080760" y="360273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totalVI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6080760" y="388620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CITE-seq — RNA and protein jointly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8686800" y="3465576"/>
            <a:ext cx="2606040" cy="1060704"/>
          </a:xfrm>
          <a:prstGeom prst="roundRect">
            <a:avLst>
              <a:gd fmla="val 4310" name="adj"/>
            </a:avLst>
          </a:prstGeom>
          <a:solidFill>
            <a:srgbClr val="FAFAFB"/>
          </a:solidFill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8869680" y="360273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MultiVI / peakVI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8869680" y="388620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ATAC and multiome 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5897880" y="4690872"/>
            <a:ext cx="2606040" cy="1060704"/>
          </a:xfrm>
          <a:prstGeom prst="roundRect">
            <a:avLst>
              <a:gd fmla="val 4310" name="adj"/>
            </a:avLst>
          </a:prstGeom>
          <a:solidFill>
            <a:srgbClr val="FAFAFB"/>
          </a:solidFill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6080760" y="482803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DestVI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6080760" y="5111496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deconvolution of spatial spots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8686800" y="4690872"/>
            <a:ext cx="2606040" cy="1060704"/>
          </a:xfrm>
          <a:prstGeom prst="roundRect">
            <a:avLst>
              <a:gd fmla="val 4310" name="adj"/>
            </a:avLst>
          </a:prstGeom>
          <a:solidFill>
            <a:srgbClr val="FAFAFB"/>
          </a:solidFill>
          <a:ln cap="flat" cmpd="sng" w="9525">
            <a:solidFill>
              <a:srgbClr val="E3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8869680" y="482803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Solo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8869680" y="5111496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doublet detection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0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11 · PROBABILISTIC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0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Why these models live in Python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640080" y="1481328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scvi-tools is built on PyTorch and Pyro — the same frameworks that drive modern machine learning.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777240" y="2286000"/>
            <a:ext cx="4160520" cy="749808"/>
          </a:xfrm>
          <a:prstGeom prst="roundRect">
            <a:avLst>
              <a:gd fmla="val 7317" name="adj"/>
            </a:avLst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0"/>
          <p:cNvSpPr/>
          <p:nvPr/>
        </p:nvSpPr>
        <p:spPr>
          <a:xfrm>
            <a:off x="1005840" y="2359152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scvi-tools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1005840" y="2651760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single-cell probabilistic models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777240" y="3163824"/>
            <a:ext cx="4160520" cy="749808"/>
          </a:xfrm>
          <a:prstGeom prst="roundRect">
            <a:avLst>
              <a:gd fmla="val 7317" name="adj"/>
            </a:avLst>
          </a:prstGeom>
          <a:solidFill>
            <a:srgbClr val="3C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1005840" y="3236976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Pyro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1005840" y="3529584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probabilistic programming — custom models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777240" y="4041648"/>
            <a:ext cx="4160520" cy="749808"/>
          </a:xfrm>
          <a:prstGeom prst="roundRect">
            <a:avLst>
              <a:gd fmla="val 7317" name="adj"/>
            </a:avLst>
          </a:prstGeom>
          <a:solidFill>
            <a:srgbClr val="D9E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0"/>
          <p:cNvSpPr/>
          <p:nvPr/>
        </p:nvSpPr>
        <p:spPr>
          <a:xfrm>
            <a:off x="1005840" y="4114800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PyTorch  ·  JAX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1005840" y="4407408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tensors, autodiff, GPU execution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777240" y="4919472"/>
            <a:ext cx="4160520" cy="749808"/>
          </a:xfrm>
          <a:prstGeom prst="roundRect">
            <a:avLst>
              <a:gd fmla="val 7317" name="adj"/>
            </a:avLst>
          </a:prstGeom>
          <a:solidFill>
            <a:srgbClr val="EE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0"/>
          <p:cNvSpPr/>
          <p:nvPr/>
        </p:nvSpPr>
        <p:spPr>
          <a:xfrm>
            <a:off x="1005840" y="4992624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151517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1005840" y="5285232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the shared language of the ML field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5760720" y="2432304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0"/>
          <p:cNvSpPr/>
          <p:nvPr/>
        </p:nvSpPr>
        <p:spPr>
          <a:xfrm>
            <a:off x="5961888" y="2350008"/>
            <a:ext cx="54681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GPU acceleration, included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5961888" y="2488393"/>
            <a:ext cx="5468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Models train on the GPU with no extra work — it comes with PyTorch.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5760720" y="318820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0"/>
          <p:cNvSpPr/>
          <p:nvPr/>
        </p:nvSpPr>
        <p:spPr>
          <a:xfrm>
            <a:off x="5961888" y="3105912"/>
            <a:ext cx="546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New methods land here first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5961888" y="3244297"/>
            <a:ext cx="5468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The ML field publishes in Python; scverse builds on it directly.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5760720" y="3944112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0"/>
          <p:cNvSpPr/>
          <p:nvPr/>
        </p:nvSpPr>
        <p:spPr>
          <a:xfrm>
            <a:off x="5961888" y="3861816"/>
            <a:ext cx="5468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Open and extensible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5961888" y="4000201"/>
            <a:ext cx="5468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Pyro lets you write and fit your own generative models when you need 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1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12 · SCALING 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GPU acceleration for large datasets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1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A GPU drop-in for scanpy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1"/>
          <p:cNvSpPr/>
          <p:nvPr/>
        </p:nvSpPr>
        <p:spPr>
          <a:xfrm>
            <a:off x="841248" y="23042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rapids-singlecell mirrors sc.pp and sc.tl, run on the GPU.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640080" y="30723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1"/>
          <p:cNvSpPr/>
          <p:nvPr/>
        </p:nvSpPr>
        <p:spPr>
          <a:xfrm>
            <a:off x="841248" y="29900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Built on NVIDIA RAPIDS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1"/>
          <p:cNvSpPr/>
          <p:nvPr/>
        </p:nvSpPr>
        <p:spPr>
          <a:xfrm>
            <a:off x="841248" y="30906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cuPy, cuML and cuGraph do the heavy numerical work underneath.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1"/>
          <p:cNvSpPr/>
          <p:nvPr/>
        </p:nvSpPr>
        <p:spPr>
          <a:xfrm>
            <a:off x="640080" y="38587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1"/>
          <p:cNvSpPr/>
          <p:nvPr/>
        </p:nvSpPr>
        <p:spPr>
          <a:xfrm>
            <a:off x="841248" y="37764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Millions of cells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1"/>
          <p:cNvSpPr/>
          <p:nvPr/>
        </p:nvSpPr>
        <p:spPr>
          <a:xfrm>
            <a:off x="841248" y="38770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Ten to a hundred times faster — large atlases on a single GPU.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1"/>
          <p:cNvSpPr/>
          <p:nvPr/>
        </p:nvSpPr>
        <p:spPr>
          <a:xfrm>
            <a:off x="6217920" y="2011680"/>
            <a:ext cx="5349240" cy="2615184"/>
          </a:xfrm>
          <a:prstGeom prst="roundRect">
            <a:avLst>
              <a:gd fmla="val 1923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1"/>
          <p:cNvSpPr/>
          <p:nvPr/>
        </p:nvSpPr>
        <p:spPr>
          <a:xfrm>
            <a:off x="6510528" y="215798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1"/>
          <p:cNvSpPr/>
          <p:nvPr/>
        </p:nvSpPr>
        <p:spPr>
          <a:xfrm>
            <a:off x="6528816" y="2505456"/>
            <a:ext cx="4782312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926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rapids_singlecell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rsc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rsc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.get.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anndata_to_GPU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rsc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pca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rsc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.pp.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neighbors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rsc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.tl.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umap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rsc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.tl.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leiden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2"/>
          <p:cNvSpPr/>
          <p:nvPr/>
        </p:nvSpPr>
        <p:spPr>
          <a:xfrm>
            <a:off x="822960" y="2395728"/>
            <a:ext cx="640080" cy="73152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2"/>
          <p:cNvSpPr/>
          <p:nvPr/>
        </p:nvSpPr>
        <p:spPr>
          <a:xfrm>
            <a:off x="822960" y="257860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PART TWO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786384" y="29260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Spatial transcriptomics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The same objects and the same packages — now with a physical coordinate for every cell.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3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13 · SQUIDPY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Squidpy — spatial analysis on AnnData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3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3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Spatial analysis on AnnData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3"/>
          <p:cNvSpPr/>
          <p:nvPr/>
        </p:nvSpPr>
        <p:spPr>
          <a:xfrm>
            <a:off x="841248" y="23042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squidpy works on the very same object you have used all along.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/>
          <p:nvPr/>
        </p:nvSpPr>
        <p:spPr>
          <a:xfrm>
            <a:off x="640080" y="31485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3"/>
          <p:cNvSpPr/>
          <p:nvPr/>
        </p:nvSpPr>
        <p:spPr>
          <a:xfrm>
            <a:off x="841248" y="30662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Spots and single cells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3"/>
          <p:cNvSpPr/>
          <p:nvPr/>
        </p:nvSpPr>
        <p:spPr>
          <a:xfrm>
            <a:off x="841248" y="30906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Visium spot data, plus Xenium, MERFISH and CosMx imaging platforms.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3"/>
          <p:cNvSpPr/>
          <p:nvPr/>
        </p:nvSpPr>
        <p:spPr>
          <a:xfrm>
            <a:off x="640080" y="40111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3"/>
          <p:cNvSpPr/>
          <p:nvPr/>
        </p:nvSpPr>
        <p:spPr>
          <a:xfrm>
            <a:off x="841248" y="39288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Neighborhoods and more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841248" y="40294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Spatial graphs, neighborhood enrichment, spatially variable genes.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/>
          <p:nvPr/>
        </p:nvSpPr>
        <p:spPr>
          <a:xfrm>
            <a:off x="6217920" y="2331720"/>
            <a:ext cx="5349240" cy="1936242"/>
          </a:xfrm>
          <a:prstGeom prst="roundRect">
            <a:avLst>
              <a:gd fmla="val 2597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3"/>
          <p:cNvSpPr/>
          <p:nvPr/>
        </p:nvSpPr>
        <p:spPr>
          <a:xfrm>
            <a:off x="6510528" y="247802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6528816" y="2825496"/>
            <a:ext cx="4782312" cy="1296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926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squidpy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sq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adata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sq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.datasets.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visium_hne_adata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sq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spatial_scatter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color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"cluster"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4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13 · SQUIDPY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4"/>
          <p:cNvSpPr/>
          <p:nvPr/>
        </p:nvSpPr>
        <p:spPr>
          <a:xfrm>
            <a:off x="640078" y="940500"/>
            <a:ext cx="47823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What spatial data adds to AnnData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4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4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Coordinates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4"/>
          <p:cNvSpPr/>
          <p:nvPr/>
        </p:nvSpPr>
        <p:spPr>
          <a:xfrm>
            <a:off x="841248" y="23042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obsm['spatial'] stores an x, y position for every cell or spot.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4"/>
          <p:cNvSpPr/>
          <p:nvPr/>
        </p:nvSpPr>
        <p:spPr>
          <a:xfrm>
            <a:off x="640080" y="30723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4"/>
          <p:cNvSpPr/>
          <p:nvPr/>
        </p:nvSpPr>
        <p:spPr>
          <a:xfrm>
            <a:off x="841248" y="29900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A spatial graph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4"/>
          <p:cNvSpPr/>
          <p:nvPr/>
        </p:nvSpPr>
        <p:spPr>
          <a:xfrm>
            <a:off x="841248" y="30906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obsp holds the who-is-next-to-whom graph, built in physical space.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4"/>
          <p:cNvSpPr/>
          <p:nvPr/>
        </p:nvSpPr>
        <p:spPr>
          <a:xfrm>
            <a:off x="640080" y="38587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4"/>
          <p:cNvSpPr/>
          <p:nvPr/>
        </p:nvSpPr>
        <p:spPr>
          <a:xfrm>
            <a:off x="841248" y="37764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Tissue images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4"/>
          <p:cNvSpPr/>
          <p:nvPr/>
        </p:nvSpPr>
        <p:spPr>
          <a:xfrm>
            <a:off x="841248" y="38770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uns['spatial'] keeps the H&amp;E image and its scale factors.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4"/>
          <p:cNvSpPr/>
          <p:nvPr/>
        </p:nvSpPr>
        <p:spPr>
          <a:xfrm>
            <a:off x="6217920" y="3988595"/>
            <a:ext cx="5349300" cy="1936200"/>
          </a:xfrm>
          <a:prstGeom prst="roundRect">
            <a:avLst>
              <a:gd fmla="val 2597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4"/>
          <p:cNvSpPr/>
          <p:nvPr/>
        </p:nvSpPr>
        <p:spPr>
          <a:xfrm>
            <a:off x="6510528" y="4134899"/>
            <a:ext cx="480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4"/>
          <p:cNvSpPr/>
          <p:nvPr/>
        </p:nvSpPr>
        <p:spPr>
          <a:xfrm>
            <a:off x="6528816" y="4482371"/>
            <a:ext cx="4782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adata.obsm[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"spatial"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          </a:t>
            </a:r>
            <a:r>
              <a:rPr b="0" i="0" lang="en-US" sz="110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# x, y per cell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adata.obsp[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"spatial_connectivities"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adata.uns[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"spatial"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           </a:t>
            </a:r>
            <a:r>
              <a:rPr b="0" i="0" lang="en-US" sz="110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# image + 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4"/>
          <p:cNvSpPr/>
          <p:nvPr/>
        </p:nvSpPr>
        <p:spPr>
          <a:xfrm>
            <a:off x="6217920" y="6045995"/>
            <a:ext cx="5349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6A6AE"/>
                </a:solidFill>
                <a:latin typeface="Calibri"/>
                <a:ea typeface="Calibri"/>
                <a:cs typeface="Calibri"/>
                <a:sym typeface="Calibri"/>
              </a:rPr>
              <a:t>Everything else — .X, .obs, clusters, X_umap — is exactly as before. Spatial information is purely additive.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2" name="Google Shape;592;p24" title="Screenshot 2026-05-19 at 11.17.0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9828" y="804687"/>
            <a:ext cx="6462525" cy="30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5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13 · SQUIDPY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5"/>
          <p:cNvSpPr/>
          <p:nvPr/>
        </p:nvSpPr>
        <p:spPr>
          <a:xfrm>
            <a:off x="640080" y="804672"/>
            <a:ext cx="10607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Building the spatial graph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5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5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Connect neighbors in space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5"/>
          <p:cNvSpPr/>
          <p:nvPr/>
        </p:nvSpPr>
        <p:spPr>
          <a:xfrm>
            <a:off x="841248" y="23042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spatial_neighbors builds the graph and writes it into .obsp.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5"/>
          <p:cNvSpPr/>
          <p:nvPr/>
        </p:nvSpPr>
        <p:spPr>
          <a:xfrm>
            <a:off x="640080" y="29961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5"/>
          <p:cNvSpPr/>
          <p:nvPr/>
        </p:nvSpPr>
        <p:spPr>
          <a:xfrm>
            <a:off x="841248" y="29138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The basis for spatial stats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5"/>
          <p:cNvSpPr/>
          <p:nvPr/>
        </p:nvSpPr>
        <p:spPr>
          <a:xfrm>
            <a:off x="841248" y="30144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Neighborhood enrichment, Moran's I, cell-type co-occurrence.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640080" y="37063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841248" y="36240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Geometry sets the parameters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5"/>
          <p:cNvSpPr/>
          <p:nvPr/>
        </p:nvSpPr>
        <p:spPr>
          <a:xfrm>
            <a:off x="841248" y="37246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Grid versus point cloud — the choice is shown on the next slide.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5"/>
          <p:cNvSpPr/>
          <p:nvPr/>
        </p:nvSpPr>
        <p:spPr>
          <a:xfrm>
            <a:off x="5913125" y="1402075"/>
            <a:ext cx="5349300" cy="1655100"/>
          </a:xfrm>
          <a:prstGeom prst="roundRect">
            <a:avLst>
              <a:gd fmla="val 2326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6205728" y="1548384"/>
            <a:ext cx="480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5"/>
          <p:cNvSpPr/>
          <p:nvPr/>
        </p:nvSpPr>
        <p:spPr>
          <a:xfrm>
            <a:off x="6224020" y="1779973"/>
            <a:ext cx="47823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sq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.gr.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spatial_neighbors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sq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.gr.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nhood_enrichment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cluster_key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"cell_type"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sq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.gr.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spatial_autocorr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(adata, mode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"moran"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5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3" name="Google Shape;613;p25" title="Screenshot 2026-05-19 at 6.26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813" y="3166804"/>
            <a:ext cx="4724127" cy="3077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6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13 · SQUIDPY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6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Visium spots vs. Xenium cells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6"/>
          <p:cNvSpPr/>
          <p:nvPr/>
        </p:nvSpPr>
        <p:spPr>
          <a:xfrm>
            <a:off x="640080" y="1481328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The graph is built differently because the geometry is different — a regular grid versus an irregular point cloud.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6"/>
          <p:cNvSpPr/>
          <p:nvPr/>
        </p:nvSpPr>
        <p:spPr>
          <a:xfrm>
            <a:off x="640080" y="205740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Visium  —  spots on a grid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3" name="Google Shape;623;p26"/>
          <p:cNvCxnSpPr/>
          <p:nvPr/>
        </p:nvCxnSpPr>
        <p:spPr>
          <a:xfrm>
            <a:off x="1828800" y="3246120"/>
            <a:ext cx="566928" cy="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26"/>
          <p:cNvCxnSpPr/>
          <p:nvPr/>
        </p:nvCxnSpPr>
        <p:spPr>
          <a:xfrm>
            <a:off x="1828800" y="3246120"/>
            <a:ext cx="283464" cy="490974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p26"/>
          <p:cNvCxnSpPr/>
          <p:nvPr/>
        </p:nvCxnSpPr>
        <p:spPr>
          <a:xfrm flipH="1" rot="10800000">
            <a:off x="1545336" y="3246120"/>
            <a:ext cx="283464" cy="490974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26"/>
          <p:cNvCxnSpPr/>
          <p:nvPr/>
        </p:nvCxnSpPr>
        <p:spPr>
          <a:xfrm>
            <a:off x="1261872" y="3246120"/>
            <a:ext cx="566928" cy="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26"/>
          <p:cNvCxnSpPr/>
          <p:nvPr/>
        </p:nvCxnSpPr>
        <p:spPr>
          <a:xfrm>
            <a:off x="1545336" y="2755146"/>
            <a:ext cx="283464" cy="490974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26"/>
          <p:cNvCxnSpPr/>
          <p:nvPr/>
        </p:nvCxnSpPr>
        <p:spPr>
          <a:xfrm flipH="1" rot="10800000">
            <a:off x="1828800" y="2755146"/>
            <a:ext cx="283464" cy="490974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26"/>
          <p:cNvCxnSpPr/>
          <p:nvPr/>
        </p:nvCxnSpPr>
        <p:spPr>
          <a:xfrm flipH="1" rot="10800000">
            <a:off x="2112264" y="3246120"/>
            <a:ext cx="283464" cy="490974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0" name="Google Shape;630;p26"/>
          <p:cNvCxnSpPr/>
          <p:nvPr/>
        </p:nvCxnSpPr>
        <p:spPr>
          <a:xfrm>
            <a:off x="1545336" y="3737094"/>
            <a:ext cx="566928" cy="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1" name="Google Shape;631;p26"/>
          <p:cNvCxnSpPr/>
          <p:nvPr/>
        </p:nvCxnSpPr>
        <p:spPr>
          <a:xfrm>
            <a:off x="1261872" y="3246120"/>
            <a:ext cx="283464" cy="490974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2" name="Google Shape;632;p26"/>
          <p:cNvCxnSpPr/>
          <p:nvPr/>
        </p:nvCxnSpPr>
        <p:spPr>
          <a:xfrm flipH="1" rot="10800000">
            <a:off x="1261872" y="2755146"/>
            <a:ext cx="283464" cy="490974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3" name="Google Shape;633;p26"/>
          <p:cNvCxnSpPr/>
          <p:nvPr/>
        </p:nvCxnSpPr>
        <p:spPr>
          <a:xfrm>
            <a:off x="1545336" y="2755146"/>
            <a:ext cx="566928" cy="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4" name="Google Shape;634;p26"/>
          <p:cNvCxnSpPr/>
          <p:nvPr/>
        </p:nvCxnSpPr>
        <p:spPr>
          <a:xfrm>
            <a:off x="2112264" y="2755146"/>
            <a:ext cx="283464" cy="490974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5" name="Google Shape;635;p26"/>
          <p:cNvSpPr/>
          <p:nvPr/>
        </p:nvSpPr>
        <p:spPr>
          <a:xfrm>
            <a:off x="1732788" y="3150108"/>
            <a:ext cx="192024" cy="192024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6"/>
          <p:cNvSpPr/>
          <p:nvPr/>
        </p:nvSpPr>
        <p:spPr>
          <a:xfrm>
            <a:off x="2299716" y="3150108"/>
            <a:ext cx="192024" cy="192024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6"/>
          <p:cNvSpPr/>
          <p:nvPr/>
        </p:nvSpPr>
        <p:spPr>
          <a:xfrm>
            <a:off x="2016252" y="3641082"/>
            <a:ext cx="192024" cy="192024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6"/>
          <p:cNvSpPr/>
          <p:nvPr/>
        </p:nvSpPr>
        <p:spPr>
          <a:xfrm>
            <a:off x="1449324" y="3641082"/>
            <a:ext cx="192024" cy="192024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6"/>
          <p:cNvSpPr/>
          <p:nvPr/>
        </p:nvSpPr>
        <p:spPr>
          <a:xfrm>
            <a:off x="1165860" y="3150108"/>
            <a:ext cx="192024" cy="192024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6"/>
          <p:cNvSpPr/>
          <p:nvPr/>
        </p:nvSpPr>
        <p:spPr>
          <a:xfrm>
            <a:off x="1449324" y="2659134"/>
            <a:ext cx="192024" cy="192024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6"/>
          <p:cNvSpPr/>
          <p:nvPr/>
        </p:nvSpPr>
        <p:spPr>
          <a:xfrm>
            <a:off x="2016252" y="2659134"/>
            <a:ext cx="192024" cy="192024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6"/>
          <p:cNvSpPr/>
          <p:nvPr/>
        </p:nvSpPr>
        <p:spPr>
          <a:xfrm>
            <a:off x="640080" y="4160520"/>
            <a:ext cx="5074920" cy="962406"/>
          </a:xfrm>
          <a:prstGeom prst="roundRect">
            <a:avLst>
              <a:gd fmla="val 5226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6"/>
          <p:cNvSpPr/>
          <p:nvPr/>
        </p:nvSpPr>
        <p:spPr>
          <a:xfrm>
            <a:off x="950976" y="4379976"/>
            <a:ext cx="4507992" cy="596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sq</a:t>
            </a:r>
            <a:r>
              <a:rPr b="0" i="0" lang="en-US" sz="105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.gr.</a:t>
            </a:r>
            <a:r>
              <a:rPr b="0" i="0" lang="en-US" sz="105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spatial_neighbors</a:t>
            </a:r>
            <a:r>
              <a:rPr b="0" i="0" lang="en-US" sz="105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adata, coord_type</a:t>
            </a:r>
            <a:r>
              <a:rPr b="0" i="0" lang="en-US" sz="105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05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"grid"</a:t>
            </a:r>
            <a:r>
              <a:rPr b="0" i="0" lang="en-US" sz="105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n_neighs</a:t>
            </a:r>
            <a:r>
              <a:rPr b="0" i="0" lang="en-US" sz="105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05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n-US" sz="105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6"/>
          <p:cNvSpPr/>
          <p:nvPr/>
        </p:nvSpPr>
        <p:spPr>
          <a:xfrm>
            <a:off x="6446520" y="205740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Xenium  —  segmented cells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5" name="Google Shape;645;p26"/>
          <p:cNvCxnSpPr/>
          <p:nvPr/>
        </p:nvCxnSpPr>
        <p:spPr>
          <a:xfrm flipH="1" rot="10800000">
            <a:off x="6949440" y="2651760"/>
            <a:ext cx="731520" cy="18288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26"/>
          <p:cNvCxnSpPr/>
          <p:nvPr/>
        </p:nvCxnSpPr>
        <p:spPr>
          <a:xfrm>
            <a:off x="7680960" y="2651760"/>
            <a:ext cx="822960" cy="32004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26"/>
          <p:cNvCxnSpPr/>
          <p:nvPr/>
        </p:nvCxnSpPr>
        <p:spPr>
          <a:xfrm>
            <a:off x="6949440" y="2834640"/>
            <a:ext cx="502920" cy="54864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p26"/>
          <p:cNvCxnSpPr/>
          <p:nvPr/>
        </p:nvCxnSpPr>
        <p:spPr>
          <a:xfrm flipH="1" rot="10800000">
            <a:off x="7452360" y="2651760"/>
            <a:ext cx="228600" cy="73152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p26"/>
          <p:cNvCxnSpPr/>
          <p:nvPr/>
        </p:nvCxnSpPr>
        <p:spPr>
          <a:xfrm flipH="1" rot="10800000">
            <a:off x="8138160" y="2971800"/>
            <a:ext cx="365760" cy="50292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p26"/>
          <p:cNvCxnSpPr/>
          <p:nvPr/>
        </p:nvCxnSpPr>
        <p:spPr>
          <a:xfrm>
            <a:off x="7680960" y="2651760"/>
            <a:ext cx="457200" cy="82296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26"/>
          <p:cNvCxnSpPr/>
          <p:nvPr/>
        </p:nvCxnSpPr>
        <p:spPr>
          <a:xfrm flipH="1" rot="10800000">
            <a:off x="6858000" y="2834640"/>
            <a:ext cx="91440" cy="68580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26"/>
          <p:cNvCxnSpPr/>
          <p:nvPr/>
        </p:nvCxnSpPr>
        <p:spPr>
          <a:xfrm flipH="1" rot="10800000">
            <a:off x="6858000" y="3383280"/>
            <a:ext cx="594360" cy="13716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26"/>
          <p:cNvCxnSpPr/>
          <p:nvPr/>
        </p:nvCxnSpPr>
        <p:spPr>
          <a:xfrm>
            <a:off x="7452360" y="3383280"/>
            <a:ext cx="685800" cy="9144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26"/>
          <p:cNvCxnSpPr/>
          <p:nvPr/>
        </p:nvCxnSpPr>
        <p:spPr>
          <a:xfrm>
            <a:off x="8138160" y="3474720"/>
            <a:ext cx="548640" cy="27432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26"/>
          <p:cNvCxnSpPr/>
          <p:nvPr/>
        </p:nvCxnSpPr>
        <p:spPr>
          <a:xfrm>
            <a:off x="8503920" y="2971800"/>
            <a:ext cx="182880" cy="77724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26"/>
          <p:cNvCxnSpPr/>
          <p:nvPr/>
        </p:nvCxnSpPr>
        <p:spPr>
          <a:xfrm>
            <a:off x="6858000" y="3520440"/>
            <a:ext cx="365760" cy="50292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7" name="Google Shape;657;p26"/>
          <p:cNvCxnSpPr/>
          <p:nvPr/>
        </p:nvCxnSpPr>
        <p:spPr>
          <a:xfrm flipH="1" rot="10800000">
            <a:off x="7223760" y="3383280"/>
            <a:ext cx="228600" cy="64008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8" name="Google Shape;658;p26"/>
          <p:cNvCxnSpPr/>
          <p:nvPr/>
        </p:nvCxnSpPr>
        <p:spPr>
          <a:xfrm>
            <a:off x="7452360" y="3383280"/>
            <a:ext cx="502920" cy="59436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9" name="Google Shape;659;p26"/>
          <p:cNvCxnSpPr/>
          <p:nvPr/>
        </p:nvCxnSpPr>
        <p:spPr>
          <a:xfrm flipH="1" rot="10800000">
            <a:off x="7955280" y="3474720"/>
            <a:ext cx="182880" cy="50292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26"/>
          <p:cNvCxnSpPr/>
          <p:nvPr/>
        </p:nvCxnSpPr>
        <p:spPr>
          <a:xfrm flipH="1" rot="10800000">
            <a:off x="7223760" y="3977640"/>
            <a:ext cx="731520" cy="4572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26"/>
          <p:cNvCxnSpPr/>
          <p:nvPr/>
        </p:nvCxnSpPr>
        <p:spPr>
          <a:xfrm flipH="1" rot="10800000">
            <a:off x="7955280" y="3749040"/>
            <a:ext cx="731520" cy="228600"/>
          </a:xfrm>
          <a:prstGeom prst="straightConnector1">
            <a:avLst/>
          </a:prstGeom>
          <a:noFill/>
          <a:ln cap="flat" cmpd="sng" w="12700">
            <a:solidFill>
              <a:srgbClr val="A6A6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2" name="Google Shape;662;p26"/>
          <p:cNvSpPr/>
          <p:nvPr/>
        </p:nvSpPr>
        <p:spPr>
          <a:xfrm>
            <a:off x="6858000" y="2743200"/>
            <a:ext cx="182880" cy="182880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7589520" y="2560320"/>
            <a:ext cx="182880" cy="182880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8412480" y="2880360"/>
            <a:ext cx="182880" cy="182880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6766560" y="3429000"/>
            <a:ext cx="182880" cy="182880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7360920" y="3291840"/>
            <a:ext cx="182880" cy="182880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8046720" y="3383280"/>
            <a:ext cx="182880" cy="182880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8595360" y="3657600"/>
            <a:ext cx="182880" cy="182880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32320" y="3931920"/>
            <a:ext cx="182880" cy="182880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6"/>
          <p:cNvSpPr/>
          <p:nvPr/>
        </p:nvSpPr>
        <p:spPr>
          <a:xfrm>
            <a:off x="7863840" y="3886200"/>
            <a:ext cx="182880" cy="182880"/>
          </a:xfrm>
          <a:prstGeom prst="ellipse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6"/>
          <p:cNvSpPr/>
          <p:nvPr/>
        </p:nvSpPr>
        <p:spPr>
          <a:xfrm>
            <a:off x="6446520" y="4160520"/>
            <a:ext cx="5074920" cy="962406"/>
          </a:xfrm>
          <a:prstGeom prst="roundRect">
            <a:avLst>
              <a:gd fmla="val 5226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6"/>
          <p:cNvSpPr/>
          <p:nvPr/>
        </p:nvSpPr>
        <p:spPr>
          <a:xfrm>
            <a:off x="6757416" y="4379976"/>
            <a:ext cx="4507992" cy="596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sq</a:t>
            </a:r>
            <a:r>
              <a:rPr b="0" i="0" lang="en-US" sz="105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.gr.</a:t>
            </a:r>
            <a:r>
              <a:rPr b="0" i="0" lang="en-US" sz="105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spatial_neighbors</a:t>
            </a:r>
            <a:r>
              <a:rPr b="0" i="0" lang="en-US" sz="105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adata, coord_type</a:t>
            </a:r>
            <a:r>
              <a:rPr b="0" i="0" lang="en-US" sz="105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05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"generic"</a:t>
            </a:r>
            <a:r>
              <a:rPr b="0" i="0" lang="en-US" sz="105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delaunay</a:t>
            </a:r>
            <a:r>
              <a:rPr b="0" i="0" lang="en-US" sz="105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=True</a:t>
            </a:r>
            <a:r>
              <a:rPr b="0" i="0" lang="en-US" sz="105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6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26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7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13 · SQUIDPY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7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Visualizing in spatial coordinates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7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7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Plot in real coordinates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7"/>
          <p:cNvSpPr/>
          <p:nvPr/>
        </p:nvSpPr>
        <p:spPr>
          <a:xfrm>
            <a:off x="841248" y="23042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spatial_scatter draws each cell or spot where it sits in the tissue.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7"/>
          <p:cNvSpPr/>
          <p:nvPr/>
        </p:nvSpPr>
        <p:spPr>
          <a:xfrm>
            <a:off x="640080" y="32247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7"/>
          <p:cNvSpPr/>
          <p:nvPr/>
        </p:nvSpPr>
        <p:spPr>
          <a:xfrm>
            <a:off x="841248" y="31424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Over the tissue image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7"/>
          <p:cNvSpPr/>
          <p:nvPr/>
        </p:nvSpPr>
        <p:spPr>
          <a:xfrm>
            <a:off x="841248" y="32430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For Visium, spots are overlaid on the H&amp;E image automatically.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7"/>
          <p:cNvSpPr/>
          <p:nvPr/>
        </p:nvSpPr>
        <p:spPr>
          <a:xfrm>
            <a:off x="640080" y="41635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7"/>
          <p:cNvSpPr/>
          <p:nvPr/>
        </p:nvSpPr>
        <p:spPr>
          <a:xfrm>
            <a:off x="841248" y="40812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Segmentation for imaging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7"/>
          <p:cNvSpPr/>
          <p:nvPr/>
        </p:nvSpPr>
        <p:spPr>
          <a:xfrm>
            <a:off x="841248" y="41818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spatial_segment uses the cell masks; crop with library_id to a FOV.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7"/>
          <p:cNvSpPr/>
          <p:nvPr/>
        </p:nvSpPr>
        <p:spPr>
          <a:xfrm>
            <a:off x="6217920" y="2011680"/>
            <a:ext cx="5349240" cy="2162556"/>
          </a:xfrm>
          <a:prstGeom prst="roundRect">
            <a:avLst>
              <a:gd fmla="val 2326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7"/>
          <p:cNvSpPr/>
          <p:nvPr/>
        </p:nvSpPr>
        <p:spPr>
          <a:xfrm>
            <a:off x="6510528" y="215798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7"/>
          <p:cNvSpPr/>
          <p:nvPr/>
        </p:nvSpPr>
        <p:spPr>
          <a:xfrm>
            <a:off x="6528816" y="2505456"/>
            <a:ext cx="4782312" cy="1522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sq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spatial_scatter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adata, color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"cell_type"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"EPCAM"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# imaging data with segmentation masks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sq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.pl.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spatial_segment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adata, color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"cell_type"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library_id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"fov1"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7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27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8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14 · SPATIALDATA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8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SpatialData — saving and loading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8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8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Whole datasets, not just cells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8"/>
          <p:cNvSpPr/>
          <p:nvPr/>
        </p:nvSpPr>
        <p:spPr>
          <a:xfrm>
            <a:off x="841248" y="23042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Images, segmentation masks, transcripts, regions, and the cell table.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8"/>
          <p:cNvSpPr/>
          <p:nvPr/>
        </p:nvSpPr>
        <p:spPr>
          <a:xfrm>
            <a:off x="640080" y="32247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8"/>
          <p:cNvSpPr/>
          <p:nvPr/>
        </p:nvSpPr>
        <p:spPr>
          <a:xfrm>
            <a:off x="841248" y="31424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Readers for every platform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8"/>
          <p:cNvSpPr/>
          <p:nvPr/>
        </p:nvSpPr>
        <p:spPr>
          <a:xfrm>
            <a:off x="841248" y="32430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Xenium, Visium HD, MERSCOPE and CosMx, each with a one-line reader.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8"/>
          <p:cNvSpPr/>
          <p:nvPr/>
        </p:nvSpPr>
        <p:spPr>
          <a:xfrm>
            <a:off x="640080" y="41635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8"/>
          <p:cNvSpPr/>
          <p:nvPr/>
        </p:nvSpPr>
        <p:spPr>
          <a:xfrm>
            <a:off x="841248" y="40812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Stored as Zarr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8"/>
          <p:cNvSpPr/>
          <p:nvPr/>
        </p:nvSpPr>
        <p:spPr>
          <a:xfrm>
            <a:off x="841248" y="41818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A single on-disk format — write once, then reload it instantly.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8"/>
          <p:cNvSpPr/>
          <p:nvPr/>
        </p:nvSpPr>
        <p:spPr>
          <a:xfrm>
            <a:off x="6217920" y="2011680"/>
            <a:ext cx="5349240" cy="2615184"/>
          </a:xfrm>
          <a:prstGeom prst="roundRect">
            <a:avLst>
              <a:gd fmla="val 1923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8"/>
          <p:cNvSpPr/>
          <p:nvPr/>
        </p:nvSpPr>
        <p:spPr>
          <a:xfrm>
            <a:off x="6510528" y="215798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8"/>
          <p:cNvSpPr/>
          <p:nvPr/>
        </p:nvSpPr>
        <p:spPr>
          <a:xfrm>
            <a:off x="6528816" y="2505456"/>
            <a:ext cx="4782312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926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spatialdata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926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spatialdata_io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sdata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sdio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xenium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"xenium_run/"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sdata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sdio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visium_hd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"visium_hd_run/"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sdata.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write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"dataset.zarr"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sdata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sd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read_zarr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"dataset.zarr"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28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9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14 · SPATIALDATA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9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Coordinate systems and transformations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9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9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Many coordinate systems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9"/>
          <p:cNvSpPr/>
          <p:nvPr/>
        </p:nvSpPr>
        <p:spPr>
          <a:xfrm>
            <a:off x="841248" y="23042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The microscope image and the transcripts live on different axes.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9"/>
          <p:cNvSpPr/>
          <p:nvPr/>
        </p:nvSpPr>
        <p:spPr>
          <a:xfrm>
            <a:off x="640080" y="32247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9"/>
          <p:cNvSpPr/>
          <p:nvPr/>
        </p:nvSpPr>
        <p:spPr>
          <a:xfrm>
            <a:off x="841248" y="31424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Transformations align them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9"/>
          <p:cNvSpPr/>
          <p:nvPr/>
        </p:nvSpPr>
        <p:spPr>
          <a:xfrm>
            <a:off x="841248" y="32430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Scale, translation and affine maps, tracked for every element.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9"/>
          <p:cNvSpPr/>
          <p:nvPr/>
        </p:nvSpPr>
        <p:spPr>
          <a:xfrm>
            <a:off x="640080" y="41635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9"/>
          <p:cNvSpPr/>
          <p:nvPr/>
        </p:nvSpPr>
        <p:spPr>
          <a:xfrm>
            <a:off x="841248" y="40812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Query across elements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9"/>
          <p:cNvSpPr/>
          <p:nvPr/>
        </p:nvSpPr>
        <p:spPr>
          <a:xfrm>
            <a:off x="841248" y="41818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Crop one region and every aligned layer comes back together.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9"/>
          <p:cNvSpPr/>
          <p:nvPr/>
        </p:nvSpPr>
        <p:spPr>
          <a:xfrm>
            <a:off x="6217920" y="2011680"/>
            <a:ext cx="5349240" cy="3067812"/>
          </a:xfrm>
          <a:prstGeom prst="roundRect">
            <a:avLst>
              <a:gd fmla="val 1639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9"/>
          <p:cNvSpPr/>
          <p:nvPr/>
        </p:nvSpPr>
        <p:spPr>
          <a:xfrm>
            <a:off x="6510528" y="215798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9"/>
          <p:cNvSpPr/>
          <p:nvPr/>
        </p:nvSpPr>
        <p:spPr>
          <a:xfrm>
            <a:off x="6528816" y="2505456"/>
            <a:ext cx="4782312" cy="2427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926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n-US" sz="11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spatialdata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.transformations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get_transformation)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A6E2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get_transformation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(sdata[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"image"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crop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sdata.query.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bounding_box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axes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"x"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"y"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min_coordinate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max_coordinate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2000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0" lang="en-US" sz="11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2000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   target_coordinate_system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"global"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9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29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0"/>
          <p:cNvSpPr/>
          <p:nvPr/>
        </p:nvSpPr>
        <p:spPr>
          <a:xfrm>
            <a:off x="640080" y="53035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F6BE0"/>
                </a:solidFill>
                <a:latin typeface="Consolas"/>
                <a:ea typeface="Consolas"/>
                <a:cs typeface="Consolas"/>
                <a:sym typeface="Consolas"/>
              </a:rPr>
              <a:t>14 · SPATIALDATA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0"/>
          <p:cNvSpPr/>
          <p:nvPr/>
        </p:nvSpPr>
        <p:spPr>
          <a:xfrm>
            <a:off x="640080" y="804672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Built for large spatial datasets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0"/>
          <p:cNvSpPr/>
          <p:nvPr/>
        </p:nvSpPr>
        <p:spPr>
          <a:xfrm>
            <a:off x="640080" y="2286000"/>
            <a:ext cx="50292" cy="36576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0"/>
          <p:cNvSpPr/>
          <p:nvPr/>
        </p:nvSpPr>
        <p:spPr>
          <a:xfrm>
            <a:off x="841248" y="2203704"/>
            <a:ext cx="48737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Bigger than memory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0"/>
          <p:cNvSpPr/>
          <p:nvPr/>
        </p:nvSpPr>
        <p:spPr>
          <a:xfrm>
            <a:off x="841248" y="2304288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Visium HD and Xenium produce huge images and transcript tables.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0"/>
          <p:cNvSpPr/>
          <p:nvPr/>
        </p:nvSpPr>
        <p:spPr>
          <a:xfrm>
            <a:off x="640080" y="3224784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0"/>
          <p:cNvSpPr/>
          <p:nvPr/>
        </p:nvSpPr>
        <p:spPr>
          <a:xfrm>
            <a:off x="841248" y="3142488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Lazy, chunked, multiscale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0"/>
          <p:cNvSpPr/>
          <p:nvPr/>
        </p:nvSpPr>
        <p:spPr>
          <a:xfrm>
            <a:off x="841248" y="3243072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Dask-backed images load only the region and resolution you ask for.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0"/>
          <p:cNvSpPr/>
          <p:nvPr/>
        </p:nvSpPr>
        <p:spPr>
          <a:xfrm>
            <a:off x="640080" y="4163568"/>
            <a:ext cx="50400" cy="365700"/>
          </a:xfrm>
          <a:prstGeom prst="rect">
            <a:avLst/>
          </a:prstGeom>
          <a:solidFill>
            <a:srgbClr val="2F6B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0"/>
          <p:cNvSpPr/>
          <p:nvPr/>
        </p:nvSpPr>
        <p:spPr>
          <a:xfrm>
            <a:off x="841248" y="4081272"/>
            <a:ext cx="4873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517"/>
                </a:solidFill>
                <a:latin typeface="Calibri"/>
                <a:ea typeface="Calibri"/>
                <a:cs typeface="Calibri"/>
                <a:sym typeface="Calibri"/>
              </a:rPr>
              <a:t>Laptop to cluster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0"/>
          <p:cNvSpPr/>
          <p:nvPr/>
        </p:nvSpPr>
        <p:spPr>
          <a:xfrm>
            <a:off x="841248" y="4181856"/>
            <a:ext cx="4873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5555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E"/>
                </a:solidFill>
                <a:latin typeface="Calibri"/>
                <a:ea typeface="Calibri"/>
                <a:cs typeface="Calibri"/>
                <a:sym typeface="Calibri"/>
              </a:rPr>
              <a:t>Explore a whole slide locally, then scale the identical code up.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0"/>
          <p:cNvSpPr/>
          <p:nvPr/>
        </p:nvSpPr>
        <p:spPr>
          <a:xfrm>
            <a:off x="6217920" y="2240280"/>
            <a:ext cx="5349240" cy="1936242"/>
          </a:xfrm>
          <a:prstGeom prst="roundRect">
            <a:avLst>
              <a:gd fmla="val 2597" name="adj"/>
            </a:avLst>
          </a:prstGeom>
          <a:solidFill>
            <a:srgbClr val="232428"/>
          </a:solidFill>
          <a:ln>
            <a:noFill/>
          </a:ln>
          <a:effectLst>
            <a:outerShdw blurRad="101600" rotWithShape="0" algn="bl" dir="5400000" dist="38100">
              <a:srgbClr val="1B1B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0"/>
          <p:cNvSpPr/>
          <p:nvPr/>
        </p:nvSpPr>
        <p:spPr>
          <a:xfrm>
            <a:off x="6510528" y="2386584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0"/>
          <p:cNvSpPr/>
          <p:nvPr/>
        </p:nvSpPr>
        <p:spPr>
          <a:xfrm>
            <a:off x="6528816" y="2734056"/>
            <a:ext cx="4782312" cy="1296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# images load lazily as Dask arrays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sdata[</a:t>
            </a:r>
            <a:r>
              <a:rPr b="0" i="0" lang="en-US" sz="1100" u="none" cap="none" strike="noStrike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"image"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]          </a:t>
            </a:r>
            <a:r>
              <a:rPr b="0" i="0" lang="en-US" sz="110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# multiscale + chunked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57A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57A85"/>
                </a:solidFill>
                <a:latin typeface="Consolas"/>
                <a:ea typeface="Consolas"/>
                <a:cs typeface="Consolas"/>
                <a:sym typeface="Consolas"/>
              </a:rPr>
              <a:t># only the queried region is read into 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F4F4E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crop </a:t>
            </a:r>
            <a:r>
              <a:rPr b="0" i="0" lang="en-US" sz="1100" u="none" cap="none" strike="noStrike">
                <a:solidFill>
                  <a:srgbClr val="F9267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 sdata.query.</a:t>
            </a:r>
            <a:r>
              <a:rPr b="0" i="0" lang="en-US" sz="11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bounding_box</a:t>
            </a:r>
            <a:r>
              <a:rPr b="0" i="0" lang="en-US" sz="1100" u="none" cap="none" strike="noStrike">
                <a:solidFill>
                  <a:srgbClr val="F4F4EE"/>
                </a:solidFill>
                <a:latin typeface="Consolas"/>
                <a:ea typeface="Consolas"/>
                <a:cs typeface="Consolas"/>
                <a:sym typeface="Consolas"/>
              </a:rPr>
              <a:t>(...)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0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E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2F6BE0"/>
                </a:solidFill>
                <a:latin typeface="Calibri"/>
                <a:ea typeface="Calibri"/>
                <a:cs typeface="Calibri"/>
                <a:sym typeface="Calibri"/>
              </a:rPr>
              <a:t>One set of objects, scanpy through spatialdata — that is what makes the scverse ecosystem worth learning.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0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6A6AE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2026-05-19T15:57:56Z</dcterms:created>
  <dc:creator>PptxGenJS</dc:creator>
</cp:coreProperties>
</file>